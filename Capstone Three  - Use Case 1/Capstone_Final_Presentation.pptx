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Test RMSE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(units, lower is better)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D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8DEE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 Forest
(tuned)</c:v>
                  </c:pt>
                  <c:pt idx="1">
                    <c:v>Gradient
Boosting (tuned)</c:v>
                  </c:pt>
                  <c:pt idx="2">
                    <c:v>Ridge
Regression (tuned)</c:v>
                  </c:pt>
                  <c:pt idx="3">
                    <c:v>Naive Seasonal
(lag-7) baseline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25.29</c:v>
                </c:pt>
                <c:pt idx="1">
                  <c:v>25.77</c:v>
                </c:pt>
                <c:pt idx="2">
                  <c:v>35.41</c:v>
                </c:pt>
                <c:pt idx="3">
                  <c:v>67.89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RMSE (units)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Test R²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(higher is better)</c:v>
                </c:pt>
              </c:strCache>
            </c:strRef>
          </c:tx>
          <c:spPr>
            <a:solidFill>
              <a:srgbClr val="2E9E6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9E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8DEE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
Forest</c:v>
                  </c:pt>
                  <c:pt idx="1">
                    <c:v>Gradient
Boosting</c:v>
                  </c:pt>
                  <c:pt idx="2">
                    <c:v>Ridge
Regression</c:v>
                  </c:pt>
                  <c:pt idx="3">
                    <c:v>Naive
Baseline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0.9667</c:v>
                </c:pt>
                <c:pt idx="1">
                  <c:v>0.9654</c:v>
                </c:pt>
                <c:pt idx="2">
                  <c:v>0.9348</c:v>
                </c:pt>
                <c:pt idx="3">
                  <c:v>0.7602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Top 8 Random Forest Feature Importances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sales_roll_28 (28-day rolling avg)</c:v>
                  </c:pt>
                  <c:pt idx="1">
                    <c:v>sales_lag_7 (same weekday, last wk)</c:v>
                  </c:pt>
                  <c:pt idx="2">
                    <c:v>on_promo (promotion flag)</c:v>
                  </c:pt>
                  <c:pt idx="3">
                    <c:v>stockout_flag</c:v>
                  </c:pt>
                  <c:pt idx="4">
                    <c:v>is_weekend</c:v>
                  </c:pt>
                  <c:pt idx="5">
                    <c:v>category_Cold Weather Apparel</c:v>
                  </c:pt>
                  <c:pt idx="6">
                    <c:v>week_of_year</c:v>
                  </c:pt>
                  <c:pt idx="7">
                    <c:v>sales_roll_7 (7-day rolling avg)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0.838</c:v>
                </c:pt>
                <c:pt idx="1">
                  <c:v>0.045</c:v>
                </c:pt>
                <c:pt idx="2">
                  <c:v>0.041</c:v>
                </c:pt>
                <c:pt idx="3">
                  <c:v>0.032</c:v>
                </c:pt>
                <c:pt idx="4">
                  <c:v>0.013</c:v>
                </c:pt>
                <c:pt idx="5">
                  <c:v>0.008</c:v>
                </c:pt>
                <c:pt idx="6">
                  <c:v>0.003</c:v>
                </c:pt>
                <c:pt idx="7">
                  <c:v>0.003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DEMAND FORECASTING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Final Report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daily unit sales from weather, holiday, promotion, and calendar signals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416052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Client — Store Operations &amp; Inventory Planning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model-ready replacement for “same as last week”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modeling approaches were tuned with time-series-aware cross-validation and compared against a naive seasonal baseline on a chronologically held-out 90-day test period. The winning model — a tuned Random Forest — cuts forecast error by 63% and explains 97% of the variance in daily sales on data it never trained 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predictor is a store/category's own recent sales history, followed by promotion status, stockouts, and weekend timing. Weather and category refine the forecast at the margins.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152704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46920" y="152704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reduction vs.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28346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294436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646920" y="294436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held-out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425196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436168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9646920" y="436168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RMSE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Report  |  Retail Demand Forecasting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Heuristic-based inventory planning is costly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often set orders and staffing from simple heuristics — like assuming this week mirrors last week — rather than a model that accounts for weather, holidays, promotions, and day-of-week seasonality. Overstocking ties up capital and drives waste; understocking causes stockouts and lost sales.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forecast daily sales per store and category more accurately than a naive “same as last week” heuristic — and if so, by how much, and which factors matter most?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Planning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51937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forecasts reduce both stockouts and overstock / waste.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8862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Planning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3008" y="51937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demand peaks support better staff scheduling.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8862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Evaluation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51937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promotion lift to inform pricing and promotion decisions.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0" y="38862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684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979408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Insight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79408" y="51937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weather-sensitive categories around forecasted conditions.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Report  |  Retail Demand Forecasting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validation for a forecasting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212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stores × 6 product categories, daily granularity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2019 – Dec 2023  (30,744 training rows)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final 90 days — Oct 3 – Dec 31, 2023 (1,620 rows)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features: calendar, weather, promo/stockout, store/category, and sales lag &amp; rolling-average history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variable: daily sales (units) — continuous, right-skewed, ~1% zero-sales (stockout) days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463040"/>
            <a:ext cx="0" cy="448056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179222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08483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data through early Oct 2023; test on the final 90 days only — never seen in training or tuning.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788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75234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CV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304495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time-series cross-validation replaces random K-Fold for every hyperparameter search, so folds never peek at the future.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749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37124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families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400507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Regression, Random Forest, and Gradient Boosted Trees — spanning linear and nonlinear approaches.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709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46725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496519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today's sales from the same weekday last week (lag-7). Any model must clear this bar to justify its complexity.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Report  |  Retail Demand Forecasting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tuned models beat the naive baseline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6751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55448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7F5EE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627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(selected)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8096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25.29  ·  R² 0.967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52360" y="25603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2633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25.77  ·  R² 0.965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52360" y="356616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0" y="3639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35.41  ·  R² 0.935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457200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0" y="4645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680960" y="4983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67.89  ·  R² 0.760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52360" y="56235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tree ensembles beat Ridge Regression, which cannot capture threshold-style weather effects. The Random Forest was selected for the lowest test RMSE.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Report  |  Retail Demand Forecasting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 (tuned)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904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25.29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0391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 (units)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4904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0391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 (units)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6090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320954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258775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66090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37560" y="320954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(n_estimators)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Hyperparameters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413308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150,  max_depth = 12,  min_samples_leaf = 1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via RandomizedSearchCV with TimeSeriesSplit (3 folds)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Read-out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track actual sales closely across the full range; residuals sit evenly around zero across the whole test period — no drift, no systematic bias.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263640" y="1417320"/>
          <a:ext cx="539496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Report  |  Retail Demand Forecasting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demand history dominates the forecast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94944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554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Signal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35240" y="19659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sales_roll_28 alone drives the large majority of predictive power — recent baseline demand is the strongest signal of tomorrow.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and stockouts are the next most influential factors, each shifting the forecast meaningfully.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category variables refine the forecast at the margins rather than driving it.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635240" y="525780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53035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forecast accuracy depends on fresh recent sales history — best suited to short-to-medium horizons.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Report  |  Retail Demand Forecasting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put this model to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 short-to-medium-horizon planning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Random Forest model to set per-store, per-category order quantities and staffing levels 1–14 days ahead. Prioritize high-volume categories (Beverages, Produce) for the largest dollar impact.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promotions &amp; weather-sensitive stocking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promotion and weather signals to size expected promotional lift ahead of time, and pre-position stock for weather-sensitive categories like Cold Weather Apparel.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EE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12480" y="2651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monitoring &amp; retraining cadence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model leans on recent rolling sales, retrain monthly (or after major mix/strategy changes) and track live RMSE/MAE to catch performance drift early.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Report  |  Retail Demand Forecasting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ideas for further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6550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 POS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03911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used structured synthetic data; re-validate the pipeline on the client's actual point-of-sale history before production use.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709928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327648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6550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handling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03911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stores/products with limited history need a separate approach (e.g., category or store-average priors).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310128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2552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forecast horizons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63931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reliable accuracy beyond a few weeks with multi-step or recursive forecasting methods.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3310128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2552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intervals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363931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quantile regression forests or conformal prediction to size safety stock, not just a point estimate.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910328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48554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modeling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523951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store- or category-specific models that reconcile with chain-level totals.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709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27648" y="4910328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48554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demand drivers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523951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local events, competitor promotions, and macro indicators to shrink residual error.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Report  |  Retail Demand Forecasting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1645920"/>
            <a:ext cx="3840480" cy="384048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402336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findings, metrics, and recommendations are documented in the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Report and Model Metrics files.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2026-08-17T20:23:05Z</dcterms:created>
  <dcterms:modified xsi:type="dcterms:W3CDTF">2026-08-17T20:23:05Z</dcterms:modified>
</cp:coreProperties>
</file>